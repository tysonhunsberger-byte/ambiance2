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467" r:id="rId2"/>
    <p:sldId id="466" r:id="rId3"/>
    <p:sldId id="464" r:id="rId4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800080"/>
    <a:srgbClr val="400080"/>
    <a:srgbClr val="006263"/>
    <a:srgbClr val="B8FFFC"/>
    <a:srgbClr val="680069"/>
    <a:srgbClr val="66FFFF"/>
    <a:srgbClr val="0000FF"/>
    <a:srgbClr val="004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638"/>
  </p:normalViewPr>
  <p:slideViewPr>
    <p:cSldViewPr>
      <p:cViewPr varScale="1">
        <p:scale>
          <a:sx n="113" d="100"/>
          <a:sy n="113" d="100"/>
        </p:scale>
        <p:origin x="204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43268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69963" y="4560888"/>
            <a:ext cx="5375275" cy="43259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5799" tIns="47059" rIns="95799" bIns="470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5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2313"/>
            <a:ext cx="4799012" cy="36004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</p:spTree>
    <p:extLst>
      <p:ext uri="{BB962C8B-B14F-4D97-AF65-F5344CB8AC3E}">
        <p14:creationId xmlns:p14="http://schemas.microsoft.com/office/powerpoint/2010/main" val="35465574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028"/>
            <a:ext cx="7772400" cy="14704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57252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0603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784" y="44065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1784" y="2906317"/>
            <a:ext cx="7772400" cy="150018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6043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085850"/>
            <a:ext cx="3810000" cy="5314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2800" y="1085850"/>
            <a:ext cx="3810000" cy="5314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58031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5035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4716"/>
            <a:ext cx="4040717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5272"/>
            <a:ext cx="4040717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6087" y="1534716"/>
            <a:ext cx="4040716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087" y="2175272"/>
            <a:ext cx="4040716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9813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2752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068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2654"/>
            <a:ext cx="30077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2" y="272657"/>
            <a:ext cx="511174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4707"/>
            <a:ext cx="30077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7804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817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817" y="613172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817" y="5367341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12170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9072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77000" y="400050"/>
            <a:ext cx="1955800" cy="6000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00050"/>
            <a:ext cx="5664200" cy="6000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4053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0005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085850"/>
            <a:ext cx="7823200" cy="531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30" name="Text Box 6"/>
          <p:cNvSpPr txBox="1">
            <a:spLocks noChangeArrowheads="1"/>
          </p:cNvSpPr>
          <p:nvPr userDrawn="1"/>
        </p:nvSpPr>
        <p:spPr bwMode="auto">
          <a:xfrm>
            <a:off x="8005763" y="6515100"/>
            <a:ext cx="325437" cy="2301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fld id="{869CD109-3FAD-5D42-B8F1-919CA6C6A9EF}" type="slidenum">
              <a:rPr lang="en-US" sz="900" smtClean="0"/>
              <a:pPr eaLnBrk="1" hangingPunct="1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3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772400" cy="533400"/>
          </a:xfrm>
        </p:spPr>
        <p:txBody>
          <a:bodyPr/>
          <a:lstStyle/>
          <a:p>
            <a:r>
              <a:rPr lang="en-US" sz="2800" dirty="0">
                <a:latin typeface="Arial" charset="0"/>
              </a:rPr>
              <a:t>Stuff to Know for Exam 3; Acids and Bases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04800" y="685800"/>
          <a:ext cx="8382000" cy="57912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Equation or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When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"/>
                          <a:cs typeface="Arial"/>
                        </a:rPr>
                        <a:t>Example</a:t>
                      </a:r>
                    </a:p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800080"/>
                          </a:solidFill>
                          <a:latin typeface="Arial" charset="0"/>
                        </a:rPr>
                        <a:t>Memorize 7 Strong Acids</a:t>
                      </a:r>
                      <a:r>
                        <a:rPr lang="en-US" sz="1200" dirty="0">
                          <a:solidFill>
                            <a:srgbClr val="800080"/>
                          </a:solidFill>
                          <a:latin typeface="Arial" charset="0"/>
                        </a:rPr>
                        <a:t>; other acids </a:t>
                      </a:r>
                      <a:r>
                        <a:rPr lang="en-US" sz="1200">
                          <a:solidFill>
                            <a:srgbClr val="800080"/>
                          </a:solidFill>
                          <a:latin typeface="Arial" charset="0"/>
                        </a:rPr>
                        <a:t>are weak</a:t>
                      </a:r>
                      <a:endParaRPr lang="en-US" sz="1200" dirty="0">
                        <a:solidFill>
                          <a:srgbClr val="800080"/>
                        </a:solidFill>
                        <a:latin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Table in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strong acids are strong electrolytes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800080"/>
                          </a:solidFill>
                          <a:latin typeface="Arial" charset="0"/>
                        </a:rPr>
                        <a:t>Memorize Strong Bases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"/>
                          <a:cs typeface="Arial"/>
                        </a:rPr>
                        <a:t>Table in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"/>
                          <a:cs typeface="Arial"/>
                        </a:rPr>
                        <a:t>strong bases are strong electrolytes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800080"/>
                          </a:solidFill>
                          <a:latin typeface="Arial" charset="0"/>
                        </a:rPr>
                        <a:t>Know that Amines are weak Bases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NR</a:t>
                      </a:r>
                      <a:r>
                        <a:rPr lang="en-US" sz="1200" baseline="-25000" dirty="0">
                          <a:latin typeface="Arial"/>
                          <a:cs typeface="Arial"/>
                        </a:rPr>
                        <a:t>3</a:t>
                      </a:r>
                      <a:r>
                        <a:rPr lang="en-US" sz="1200" dirty="0">
                          <a:latin typeface="Arial"/>
                          <a:cs typeface="Arial"/>
                        </a:rPr>
                        <a:t> where R = H or a hydrocarbon or</a:t>
                      </a:r>
                      <a:r>
                        <a:rPr lang="en-US" sz="1200" baseline="0" dirty="0">
                          <a:latin typeface="Arial"/>
                          <a:cs typeface="Arial"/>
                        </a:rPr>
                        <a:t> hydroxyl group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800080"/>
                          </a:solidFill>
                          <a:latin typeface="Arial" charset="0"/>
                        </a:rPr>
                        <a:t>Know Conjugate Acids and Bases, know relative strength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Differ</a:t>
                      </a:r>
                      <a:r>
                        <a:rPr lang="en-US" sz="1200" baseline="0" dirty="0">
                          <a:latin typeface="Arial"/>
                          <a:cs typeface="Arial"/>
                        </a:rPr>
                        <a:t> by one proton</a:t>
                      </a:r>
                    </a:p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Strong</a:t>
                      </a:r>
                      <a:r>
                        <a:rPr lang="en-US" sz="1200" baseline="0" dirty="0">
                          <a:latin typeface="Arial"/>
                          <a:cs typeface="Arial"/>
                        </a:rPr>
                        <a:t> conj. of </a:t>
                      </a:r>
                      <a:r>
                        <a:rPr lang="en-US" sz="1200" dirty="0">
                          <a:latin typeface="Arial"/>
                          <a:cs typeface="Arial"/>
                        </a:rPr>
                        <a:t>negligible</a:t>
                      </a:r>
                    </a:p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Weak</a:t>
                      </a:r>
                      <a:r>
                        <a:rPr lang="en-US" sz="1200" baseline="0" dirty="0">
                          <a:latin typeface="Arial"/>
                          <a:cs typeface="Arial"/>
                        </a:rPr>
                        <a:t> conj. of </a:t>
                      </a:r>
                      <a:r>
                        <a:rPr lang="en-US" sz="1200" dirty="0">
                          <a:latin typeface="Arial"/>
                          <a:cs typeface="Arial"/>
                        </a:rPr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800080"/>
                          </a:solidFill>
                          <a:latin typeface="Arial" charset="0"/>
                        </a:rPr>
                        <a:t>Auto-ionization of Water, K</a:t>
                      </a:r>
                      <a:r>
                        <a:rPr lang="en-US" sz="1200" baseline="-25000" dirty="0">
                          <a:solidFill>
                            <a:srgbClr val="800080"/>
                          </a:solidFill>
                          <a:latin typeface="Arial" charset="0"/>
                        </a:rPr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800080"/>
                          </a:solidFill>
                          <a:latin typeface="Arial" charset="0"/>
                        </a:rPr>
                        <a:t>K</a:t>
                      </a:r>
                      <a:r>
                        <a:rPr lang="en-US" sz="1200" baseline="-25000" dirty="0">
                          <a:solidFill>
                            <a:srgbClr val="800080"/>
                          </a:solidFill>
                          <a:latin typeface="Arial" charset="0"/>
                        </a:rPr>
                        <a:t>w </a:t>
                      </a:r>
                      <a:r>
                        <a:rPr lang="en-US" sz="1200" baseline="0" dirty="0">
                          <a:solidFill>
                            <a:srgbClr val="800080"/>
                          </a:solidFill>
                          <a:latin typeface="Arial" charset="0"/>
                        </a:rPr>
                        <a:t>= [OH</a:t>
                      </a:r>
                      <a:r>
                        <a:rPr lang="en-US" sz="1200" baseline="30000" dirty="0">
                          <a:latin typeface="Arial"/>
                          <a:cs typeface="Arial"/>
                        </a:rPr>
                        <a:t>−</a:t>
                      </a:r>
                      <a:r>
                        <a:rPr lang="en-US" sz="1200" baseline="0" dirty="0">
                          <a:solidFill>
                            <a:srgbClr val="800080"/>
                          </a:solidFill>
                          <a:latin typeface="Arial" charset="0"/>
                        </a:rPr>
                        <a:t>][H</a:t>
                      </a:r>
                      <a:r>
                        <a:rPr lang="en-US" sz="1200" baseline="30000" dirty="0">
                          <a:solidFill>
                            <a:srgbClr val="800080"/>
                          </a:solidFill>
                          <a:latin typeface="Arial" charset="0"/>
                        </a:rPr>
                        <a:t>+</a:t>
                      </a:r>
                      <a:r>
                        <a:rPr lang="en-US" sz="1200" baseline="0" dirty="0">
                          <a:solidFill>
                            <a:srgbClr val="800080"/>
                          </a:solidFill>
                          <a:latin typeface="Arial" charset="0"/>
                        </a:rPr>
                        <a:t>] </a:t>
                      </a:r>
                    </a:p>
                    <a:p>
                      <a:pPr marL="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800080"/>
                          </a:solidFill>
                          <a:latin typeface="Arial" charset="0"/>
                        </a:rPr>
                        <a:t>K</a:t>
                      </a:r>
                      <a:r>
                        <a:rPr lang="en-US" sz="1200" baseline="-25000" dirty="0">
                          <a:solidFill>
                            <a:srgbClr val="800080"/>
                          </a:solidFill>
                          <a:latin typeface="Arial" charset="0"/>
                        </a:rPr>
                        <a:t>w</a:t>
                      </a:r>
                      <a:r>
                        <a:rPr lang="en-US" sz="1200" baseline="0" dirty="0">
                          <a:solidFill>
                            <a:srgbClr val="800080"/>
                          </a:solidFill>
                          <a:latin typeface="Arial" charset="0"/>
                        </a:rPr>
                        <a:t>= 1 x 10</a:t>
                      </a:r>
                      <a:r>
                        <a:rPr lang="en-US" sz="1200" baseline="30000" dirty="0">
                          <a:latin typeface="Arial"/>
                          <a:cs typeface="Arial"/>
                        </a:rPr>
                        <a:t>−</a:t>
                      </a:r>
                      <a:r>
                        <a:rPr lang="en-US" sz="1200" baseline="30000" dirty="0">
                          <a:solidFill>
                            <a:srgbClr val="800080"/>
                          </a:solidFill>
                          <a:latin typeface="Arial" charset="0"/>
                        </a:rPr>
                        <a:t>14 </a:t>
                      </a:r>
                      <a:r>
                        <a:rPr lang="en-US" sz="1200" baseline="0" dirty="0">
                          <a:solidFill>
                            <a:srgbClr val="800080"/>
                          </a:solidFill>
                          <a:latin typeface="Arial" charset="0"/>
                        </a:rPr>
                        <a:t>@ 25°C</a:t>
                      </a:r>
                    </a:p>
                    <a:p>
                      <a:r>
                        <a:rPr lang="en-US" sz="1200" dirty="0">
                          <a:solidFill>
                            <a:srgbClr val="800080"/>
                          </a:solidFill>
                          <a:latin typeface="Arial" charset="0"/>
                        </a:rPr>
                        <a:t>K</a:t>
                      </a:r>
                      <a:r>
                        <a:rPr lang="en-US" sz="1200" baseline="-25000" dirty="0">
                          <a:solidFill>
                            <a:srgbClr val="800080"/>
                          </a:solidFill>
                          <a:latin typeface="Arial" charset="0"/>
                        </a:rPr>
                        <a:t>w </a:t>
                      </a:r>
                      <a:r>
                        <a:rPr lang="en-US" sz="1200" baseline="0" dirty="0">
                          <a:solidFill>
                            <a:srgbClr val="800080"/>
                          </a:solidFill>
                          <a:latin typeface="Arial" charset="0"/>
                        </a:rPr>
                        <a:t>= </a:t>
                      </a:r>
                      <a:r>
                        <a:rPr lang="en-US" sz="1200" dirty="0" err="1">
                          <a:solidFill>
                            <a:srgbClr val="800080"/>
                          </a:solidFill>
                          <a:latin typeface="Arial" charset="0"/>
                        </a:rPr>
                        <a:t>K</a:t>
                      </a:r>
                      <a:r>
                        <a:rPr lang="en-US" sz="1200" baseline="-25000" dirty="0" err="1">
                          <a:solidFill>
                            <a:srgbClr val="800080"/>
                          </a:solidFill>
                          <a:latin typeface="Arial" charset="0"/>
                        </a:rPr>
                        <a:t>a</a:t>
                      </a:r>
                      <a:r>
                        <a:rPr lang="en-US" sz="1200" baseline="-25000" dirty="0">
                          <a:solidFill>
                            <a:srgbClr val="800080"/>
                          </a:solidFill>
                          <a:latin typeface="Arial" charset="0"/>
                        </a:rPr>
                        <a:t> </a:t>
                      </a:r>
                      <a:r>
                        <a:rPr lang="en-US" sz="1200" baseline="0" dirty="0">
                          <a:solidFill>
                            <a:srgbClr val="800080"/>
                          </a:solidFill>
                          <a:latin typeface="Arial" charset="0"/>
                        </a:rPr>
                        <a:t>x  </a:t>
                      </a:r>
                      <a:r>
                        <a:rPr lang="en-US" sz="1200" dirty="0">
                          <a:solidFill>
                            <a:srgbClr val="800080"/>
                          </a:solidFill>
                          <a:latin typeface="Arial" charset="0"/>
                        </a:rPr>
                        <a:t>K</a:t>
                      </a:r>
                      <a:r>
                        <a:rPr lang="en-US" sz="1200" baseline="-25000" dirty="0">
                          <a:solidFill>
                            <a:srgbClr val="800080"/>
                          </a:solidFill>
                          <a:latin typeface="Arial" charset="0"/>
                        </a:rPr>
                        <a:t>b</a:t>
                      </a:r>
                      <a:endParaRPr lang="en-US" sz="1200" baseline="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800080"/>
                          </a:solidFill>
                          <a:latin typeface="Arial" charset="0"/>
                        </a:rPr>
                        <a:t>K</a:t>
                      </a:r>
                      <a:r>
                        <a:rPr lang="en-US" sz="1200" baseline="-25000" dirty="0">
                          <a:solidFill>
                            <a:srgbClr val="800080"/>
                          </a:solidFill>
                          <a:latin typeface="Arial" charset="0"/>
                        </a:rPr>
                        <a:t>w </a:t>
                      </a:r>
                      <a:r>
                        <a:rPr lang="en-US" sz="1200" baseline="0" dirty="0">
                          <a:solidFill>
                            <a:srgbClr val="800080"/>
                          </a:solidFill>
                          <a:latin typeface="Arial" charset="0"/>
                        </a:rPr>
                        <a:t>varies with temperature</a:t>
                      </a:r>
                      <a:endParaRPr lang="en-US" sz="1200" baseline="-25000" dirty="0">
                        <a:solidFill>
                          <a:srgbClr val="800080"/>
                        </a:solidFill>
                        <a:latin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Calculation of pH for strong acids and bases,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pH = −log[H</a:t>
                      </a:r>
                      <a:r>
                        <a:rPr lang="en-US" sz="1200" baseline="30000" dirty="0">
                          <a:latin typeface="Arial"/>
                          <a:cs typeface="Arial"/>
                        </a:rPr>
                        <a:t>+</a:t>
                      </a:r>
                      <a:r>
                        <a:rPr lang="en-US" sz="1200" dirty="0">
                          <a:latin typeface="Arial"/>
                          <a:cs typeface="Arial"/>
                        </a:rPr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Calculation of </a:t>
                      </a:r>
                      <a:r>
                        <a:rPr lang="en-US" sz="1200" dirty="0" err="1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pOH</a:t>
                      </a:r>
                      <a:r>
                        <a:rPr lang="en-US" sz="1200" dirty="0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, relate to pH and </a:t>
                      </a:r>
                      <a:r>
                        <a:rPr lang="en-US" sz="1200" dirty="0" err="1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pK</a:t>
                      </a:r>
                      <a:r>
                        <a:rPr lang="en-US" sz="1200" baseline="-25000" dirty="0" err="1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w</a:t>
                      </a:r>
                      <a:endParaRPr lang="en-US" sz="1200" dirty="0">
                        <a:solidFill>
                          <a:srgbClr val="800080"/>
                        </a:solidFill>
                        <a:latin typeface="Arial" charset="0"/>
                        <a:ea typeface="ＭＳ Ｐゴシック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/>
                          <a:cs typeface="Arial"/>
                        </a:rPr>
                        <a:t>pOH</a:t>
                      </a:r>
                      <a:r>
                        <a:rPr lang="en-US" sz="1200" dirty="0">
                          <a:latin typeface="Arial"/>
                          <a:cs typeface="Arial"/>
                        </a:rPr>
                        <a:t> = −log[OH</a:t>
                      </a:r>
                      <a:r>
                        <a:rPr lang="en-US" sz="1200" baseline="30000" dirty="0">
                          <a:latin typeface="Arial"/>
                          <a:cs typeface="Arial"/>
                        </a:rPr>
                        <a:t>−</a:t>
                      </a:r>
                      <a:r>
                        <a:rPr lang="en-US" sz="1200" dirty="0">
                          <a:latin typeface="Arial"/>
                          <a:cs typeface="Arial"/>
                        </a:rPr>
                        <a:t>]</a:t>
                      </a:r>
                    </a:p>
                    <a:p>
                      <a:r>
                        <a:rPr lang="en-US" sz="1200" dirty="0" err="1">
                          <a:latin typeface="Arial"/>
                          <a:cs typeface="Arial"/>
                        </a:rPr>
                        <a:t>pOH</a:t>
                      </a:r>
                      <a:r>
                        <a:rPr lang="en-US" sz="1200" baseline="0" dirty="0">
                          <a:latin typeface="Arial"/>
                          <a:cs typeface="Arial"/>
                        </a:rPr>
                        <a:t> + pH = </a:t>
                      </a:r>
                      <a:r>
                        <a:rPr lang="en-US" sz="1200" baseline="0" dirty="0" err="1">
                          <a:latin typeface="Arial"/>
                          <a:cs typeface="Arial"/>
                        </a:rPr>
                        <a:t>pKa</a:t>
                      </a:r>
                      <a:r>
                        <a:rPr lang="en-US" sz="1200" baseline="0" dirty="0">
                          <a:latin typeface="Arial"/>
                          <a:cs typeface="Arial"/>
                        </a:rPr>
                        <a:t> = 14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K</a:t>
                      </a:r>
                      <a:r>
                        <a:rPr lang="en-US" sz="1200" baseline="-25000" dirty="0" err="1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a</a:t>
                      </a:r>
                      <a:r>
                        <a:rPr lang="en-US" sz="1200" dirty="0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 for weak acids, write acid dissociation reaction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/>
                          <a:cs typeface="Arial"/>
                        </a:rPr>
                        <a:t>K</a:t>
                      </a:r>
                      <a:r>
                        <a:rPr lang="en-US" sz="1200" baseline="-25000" dirty="0" err="1">
                          <a:latin typeface="Arial"/>
                          <a:cs typeface="Arial"/>
                        </a:rPr>
                        <a:t>a</a:t>
                      </a:r>
                      <a:r>
                        <a:rPr lang="en-US" sz="1200" dirty="0">
                          <a:latin typeface="Arial"/>
                          <a:cs typeface="Arial"/>
                        </a:rPr>
                        <a:t> = [H</a:t>
                      </a:r>
                      <a:r>
                        <a:rPr lang="en-US" sz="1200" baseline="30000" dirty="0">
                          <a:latin typeface="Arial"/>
                          <a:cs typeface="Arial"/>
                        </a:rPr>
                        <a:t>+</a:t>
                      </a:r>
                      <a:r>
                        <a:rPr lang="en-US" sz="1200" dirty="0">
                          <a:latin typeface="Arial"/>
                          <a:cs typeface="Arial"/>
                        </a:rPr>
                        <a:t>][A</a:t>
                      </a:r>
                      <a:r>
                        <a:rPr lang="en-US" sz="1200" baseline="30000" dirty="0">
                          <a:latin typeface="Arial"/>
                          <a:cs typeface="Arial"/>
                        </a:rPr>
                        <a:t>−</a:t>
                      </a:r>
                      <a:r>
                        <a:rPr lang="en-US" sz="1200" dirty="0">
                          <a:latin typeface="Arial"/>
                          <a:cs typeface="Arial"/>
                        </a:rPr>
                        <a:t>]/[HA]</a:t>
                      </a:r>
                    </a:p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HA </a:t>
                      </a:r>
                      <a:r>
                        <a:rPr lang="en-US" sz="1200" baseline="0" dirty="0">
                          <a:latin typeface="Arial"/>
                          <a:cs typeface="Arial"/>
                          <a:sym typeface="Wingdings"/>
                        </a:rPr>
                        <a:t>      </a:t>
                      </a:r>
                      <a:r>
                        <a:rPr lang="en-US" sz="1200" dirty="0">
                          <a:latin typeface="Arial"/>
                          <a:cs typeface="Arial"/>
                          <a:sym typeface="Wingdings"/>
                        </a:rPr>
                        <a:t> H</a:t>
                      </a:r>
                      <a:r>
                        <a:rPr lang="en-US" sz="1200" baseline="30000" dirty="0">
                          <a:latin typeface="Arial"/>
                          <a:cs typeface="Arial"/>
                          <a:sym typeface="Wingdings"/>
                        </a:rPr>
                        <a:t>+</a:t>
                      </a:r>
                      <a:r>
                        <a:rPr lang="en-US" sz="1200" dirty="0">
                          <a:latin typeface="Arial"/>
                          <a:cs typeface="Arial"/>
                          <a:sym typeface="Wingdings"/>
                        </a:rPr>
                        <a:t> + A</a:t>
                      </a:r>
                      <a:r>
                        <a:rPr lang="en-US" sz="1200" baseline="30000" dirty="0">
                          <a:latin typeface="Arial"/>
                          <a:cs typeface="Arial"/>
                        </a:rPr>
                        <a:t>−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Calculation of pH for weak acids; equilibrium problem solving (</a:t>
                      </a:r>
                      <a:r>
                        <a:rPr lang="en-US" sz="1200" i="1" dirty="0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ice</a:t>
                      </a:r>
                      <a:r>
                        <a:rPr lang="en-US" sz="1200" dirty="0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) for weak</a:t>
                      </a:r>
                      <a:r>
                        <a:rPr lang="en-US" sz="1200" baseline="0" dirty="0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 acids</a:t>
                      </a:r>
                      <a:endParaRPr lang="en-US" sz="1200" dirty="0">
                        <a:solidFill>
                          <a:srgbClr val="800080"/>
                        </a:solidFill>
                        <a:latin typeface="Arial" charset="0"/>
                        <a:ea typeface="ＭＳ Ｐゴシック" charset="0"/>
                      </a:endParaRPr>
                    </a:p>
                    <a:p>
                      <a:pPr marL="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rgbClr val="800080"/>
                        </a:solidFill>
                        <a:latin typeface="Arial" charset="0"/>
                        <a:ea typeface="ＭＳ Ｐゴシック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"/>
                          <a:cs typeface="Arial"/>
                        </a:rPr>
                        <a:t>place</a:t>
                      </a:r>
                      <a:r>
                        <a:rPr lang="en-US" sz="1200" baseline="0" dirty="0">
                          <a:latin typeface="Arial"/>
                          <a:cs typeface="Arial"/>
                        </a:rPr>
                        <a:t> initial, change and equilibrium concentrations under balanced reaction, use </a:t>
                      </a:r>
                      <a:r>
                        <a:rPr lang="en-US" sz="1200" baseline="0" dirty="0" err="1">
                          <a:latin typeface="Arial"/>
                          <a:cs typeface="Arial"/>
                        </a:rPr>
                        <a:t>K</a:t>
                      </a:r>
                      <a:r>
                        <a:rPr lang="en-US" sz="1200" baseline="-25000" dirty="0" err="1">
                          <a:latin typeface="Arial"/>
                          <a:cs typeface="Arial"/>
                        </a:rPr>
                        <a:t>a</a:t>
                      </a:r>
                      <a:r>
                        <a:rPr lang="en-US" sz="1200" baseline="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200" baseline="0" dirty="0" err="1">
                          <a:latin typeface="Arial"/>
                          <a:cs typeface="Arial"/>
                        </a:rPr>
                        <a:t>equilib</a:t>
                      </a:r>
                      <a:r>
                        <a:rPr lang="en-US" sz="1200" baseline="0" dirty="0">
                          <a:latin typeface="Arial"/>
                          <a:cs typeface="Arial"/>
                        </a:rPr>
                        <a:t> expression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Calculate percent ionization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"/>
                          <a:cs typeface="Arial"/>
                        </a:rPr>
                        <a:t>[H</a:t>
                      </a:r>
                      <a:r>
                        <a:rPr lang="en-US" sz="1200" baseline="30000" dirty="0">
                          <a:latin typeface="Arial"/>
                          <a:cs typeface="Arial"/>
                        </a:rPr>
                        <a:t>+</a:t>
                      </a:r>
                      <a:r>
                        <a:rPr lang="en-US" sz="1200" dirty="0">
                          <a:latin typeface="Arial"/>
                          <a:cs typeface="Arial"/>
                        </a:rPr>
                        <a:t>]/[HA] x 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If &lt;5% ionization, x v. </a:t>
                      </a:r>
                      <a:r>
                        <a:rPr lang="en-US" sz="1200">
                          <a:latin typeface="Arial"/>
                          <a:cs typeface="Arial"/>
                        </a:rPr>
                        <a:t>small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337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5181600"/>
            <a:ext cx="228600" cy="65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7380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title"/>
          </p:nvPr>
        </p:nvSpPr>
        <p:spPr>
          <a:xfrm>
            <a:off x="76200" y="152400"/>
            <a:ext cx="8915400" cy="533400"/>
          </a:xfrm>
        </p:spPr>
        <p:txBody>
          <a:bodyPr/>
          <a:lstStyle/>
          <a:p>
            <a:r>
              <a:rPr lang="en-US" dirty="0">
                <a:latin typeface="Arial" charset="0"/>
              </a:rPr>
              <a:t>Stuff to know for Exam 3; Acids and Bases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848244"/>
              </p:ext>
            </p:extLst>
          </p:nvPr>
        </p:nvGraphicFramePr>
        <p:xfrm>
          <a:off x="304800" y="838200"/>
          <a:ext cx="8382000" cy="5761073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3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Objective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Equation or Rule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When used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"/>
                          <a:cs typeface="Arial"/>
                        </a:rPr>
                        <a:t>Example</a:t>
                      </a:r>
                    </a:p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32">
                <a:tc>
                  <a:txBody>
                    <a:bodyPr/>
                    <a:lstStyle/>
                    <a:p>
                      <a:pPr marL="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K</a:t>
                      </a:r>
                      <a:r>
                        <a:rPr lang="en-US" sz="1200" baseline="-25000" dirty="0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b</a:t>
                      </a:r>
                      <a:r>
                        <a:rPr lang="en-US" sz="1200" dirty="0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 for weak bases, base hydrolysis reaction, 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K</a:t>
                      </a:r>
                      <a:r>
                        <a:rPr lang="en-US" sz="1200" baseline="-25000" dirty="0">
                          <a:latin typeface="Arial"/>
                          <a:cs typeface="Arial"/>
                        </a:rPr>
                        <a:t>b</a:t>
                      </a:r>
                      <a:r>
                        <a:rPr lang="en-US" sz="1200" dirty="0">
                          <a:latin typeface="Arial"/>
                          <a:cs typeface="Arial"/>
                        </a:rPr>
                        <a:t> = [OH</a:t>
                      </a:r>
                      <a:r>
                        <a:rPr lang="en-US" sz="1200" baseline="30000" dirty="0">
                          <a:latin typeface="Arial"/>
                          <a:cs typeface="Arial"/>
                        </a:rPr>
                        <a:t>−</a:t>
                      </a:r>
                      <a:r>
                        <a:rPr lang="en-US" sz="1200" dirty="0">
                          <a:latin typeface="Arial"/>
                          <a:cs typeface="Arial"/>
                        </a:rPr>
                        <a:t>][HA]/[A</a:t>
                      </a:r>
                      <a:r>
                        <a:rPr lang="en-US" sz="1200" baseline="30000" dirty="0">
                          <a:latin typeface="Arial"/>
                          <a:cs typeface="Arial"/>
                        </a:rPr>
                        <a:t>−</a:t>
                      </a:r>
                      <a:r>
                        <a:rPr lang="en-US" sz="1200" dirty="0">
                          <a:latin typeface="Arial"/>
                          <a:cs typeface="Arial"/>
                        </a:rPr>
                        <a:t>]</a:t>
                      </a:r>
                    </a:p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A</a:t>
                      </a:r>
                      <a:r>
                        <a:rPr lang="en-US" sz="1200" baseline="30000" dirty="0">
                          <a:latin typeface="Arial"/>
                          <a:cs typeface="Arial"/>
                        </a:rPr>
                        <a:t>−</a:t>
                      </a:r>
                      <a:r>
                        <a:rPr lang="en-US" sz="1200" dirty="0">
                          <a:latin typeface="Arial"/>
                          <a:cs typeface="Arial"/>
                        </a:rPr>
                        <a:t> +</a:t>
                      </a:r>
                      <a:r>
                        <a:rPr lang="en-US" sz="1200" baseline="0" dirty="0">
                          <a:latin typeface="Arial"/>
                          <a:cs typeface="Arial"/>
                        </a:rPr>
                        <a:t> H</a:t>
                      </a:r>
                      <a:r>
                        <a:rPr lang="en-US" sz="1200" baseline="-25000" dirty="0">
                          <a:latin typeface="Arial"/>
                          <a:cs typeface="Arial"/>
                        </a:rPr>
                        <a:t>2</a:t>
                      </a:r>
                      <a:r>
                        <a:rPr lang="en-US" sz="1200" baseline="0" dirty="0">
                          <a:latin typeface="Arial"/>
                          <a:cs typeface="Arial"/>
                        </a:rPr>
                        <a:t>O   </a:t>
                      </a:r>
                      <a:r>
                        <a:rPr lang="en-US" sz="120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200" dirty="0">
                          <a:latin typeface="Arial"/>
                          <a:cs typeface="Arial"/>
                          <a:sym typeface="Wingdings"/>
                        </a:rPr>
                        <a:t>      OH</a:t>
                      </a:r>
                      <a:r>
                        <a:rPr lang="en-US" sz="1200" baseline="30000" dirty="0">
                          <a:latin typeface="Arial"/>
                          <a:cs typeface="Arial"/>
                        </a:rPr>
                        <a:t>−</a:t>
                      </a:r>
                      <a:r>
                        <a:rPr lang="en-US" sz="1200" dirty="0">
                          <a:latin typeface="Arial"/>
                          <a:cs typeface="Arial"/>
                          <a:sym typeface="Wingdings"/>
                        </a:rPr>
                        <a:t> + HA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3018">
                <a:tc>
                  <a:txBody>
                    <a:bodyPr/>
                    <a:lstStyle/>
                    <a:p>
                      <a:pPr marL="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Calculation of pH for weak bases;</a:t>
                      </a:r>
                      <a:r>
                        <a:rPr lang="en-US" sz="1200" baseline="0" dirty="0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equilibrium problem solving (</a:t>
                      </a:r>
                      <a:r>
                        <a:rPr lang="en-US" sz="1200" i="1" dirty="0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ice</a:t>
                      </a:r>
                      <a:r>
                        <a:rPr lang="en-US" sz="1200" dirty="0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)</a:t>
                      </a:r>
                      <a:r>
                        <a:rPr lang="en-US" sz="1200" baseline="0" dirty="0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 to get [OH-], connect to pH</a:t>
                      </a:r>
                      <a:endParaRPr lang="en-US" sz="1200" dirty="0">
                        <a:solidFill>
                          <a:srgbClr val="800080"/>
                        </a:solidFill>
                        <a:latin typeface="Arial" charset="0"/>
                        <a:ea typeface="ＭＳ Ｐゴシック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"/>
                          <a:cs typeface="Arial"/>
                        </a:rPr>
                        <a:t>place</a:t>
                      </a:r>
                      <a:r>
                        <a:rPr lang="en-US" sz="1200" baseline="0" dirty="0">
                          <a:latin typeface="Arial"/>
                          <a:cs typeface="Arial"/>
                        </a:rPr>
                        <a:t> initial, change and equilibrium concentrations under balanced reaction, use Kb </a:t>
                      </a:r>
                      <a:r>
                        <a:rPr lang="en-US" sz="1200" baseline="0" dirty="0" err="1">
                          <a:latin typeface="Arial"/>
                          <a:cs typeface="Arial"/>
                        </a:rPr>
                        <a:t>equilib</a:t>
                      </a:r>
                      <a:r>
                        <a:rPr lang="en-US" sz="1200" baseline="0" dirty="0">
                          <a:latin typeface="Arial"/>
                          <a:cs typeface="Arial"/>
                        </a:rPr>
                        <a:t> expression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3018">
                <a:tc>
                  <a:txBody>
                    <a:bodyPr/>
                    <a:lstStyle/>
                    <a:p>
                      <a:pPr marL="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Calculation of concentrations/pH for </a:t>
                      </a:r>
                      <a:r>
                        <a:rPr lang="en-US" sz="1200" dirty="0" err="1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polyprotic</a:t>
                      </a:r>
                      <a:r>
                        <a:rPr lang="en-US" sz="1200" dirty="0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 acids, size of K</a:t>
                      </a:r>
                      <a:r>
                        <a:rPr lang="en-US" sz="1200" baseline="-25000" dirty="0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a1</a:t>
                      </a:r>
                      <a:r>
                        <a:rPr lang="en-US" sz="1200" dirty="0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 vs. K</a:t>
                      </a:r>
                      <a:r>
                        <a:rPr lang="en-US" sz="1200" baseline="-25000" dirty="0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a2</a:t>
                      </a:r>
                      <a:endParaRPr lang="en-US" sz="1200" dirty="0">
                        <a:solidFill>
                          <a:srgbClr val="800080"/>
                        </a:solidFill>
                        <a:latin typeface="Arial" charset="0"/>
                        <a:ea typeface="ＭＳ Ｐゴシック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stepwise removal of one proton; first </a:t>
                      </a:r>
                      <a:r>
                        <a:rPr lang="en-US" sz="1200" dirty="0" err="1">
                          <a:latin typeface="Arial"/>
                          <a:cs typeface="Arial"/>
                        </a:rPr>
                        <a:t>Ka</a:t>
                      </a:r>
                      <a:r>
                        <a:rPr lang="en-US" sz="1200" baseline="0" dirty="0">
                          <a:latin typeface="Arial"/>
                          <a:cs typeface="Arial"/>
                        </a:rPr>
                        <a:t> is largest, last </a:t>
                      </a:r>
                      <a:r>
                        <a:rPr lang="en-US" sz="1200" baseline="0" dirty="0" err="1">
                          <a:latin typeface="Arial"/>
                          <a:cs typeface="Arial"/>
                        </a:rPr>
                        <a:t>Ka</a:t>
                      </a:r>
                      <a:r>
                        <a:rPr lang="en-US" sz="1200" baseline="0" dirty="0">
                          <a:latin typeface="Arial"/>
                          <a:cs typeface="Arial"/>
                        </a:rPr>
                        <a:t> is smallest, last ion is best base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125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Identify acidic or basic ions in salts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Dissociate salt completely, determine if ions are strong, weak or negligible</a:t>
                      </a:r>
                      <a:r>
                        <a:rPr lang="en-US" sz="1200" baseline="0" dirty="0">
                          <a:latin typeface="Arial"/>
                          <a:cs typeface="Arial"/>
                        </a:rPr>
                        <a:t> A or B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125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Qualitatively describe or calculate pH of salt solutions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Dissociate, then write acid dissociation or base hydrolysis reaction of ions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125">
                <a:tc>
                  <a:txBody>
                    <a:bodyPr/>
                    <a:lstStyle/>
                    <a:p>
                      <a:pPr marL="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Correlate acid strength with structure</a:t>
                      </a:r>
                      <a:r>
                        <a:rPr lang="en-US" sz="1200" baseline="0" dirty="0">
                          <a:solidFill>
                            <a:srgbClr val="008080"/>
                          </a:solidFill>
                          <a:latin typeface="Arial"/>
                          <a:ea typeface="+mn-ea"/>
                          <a:cs typeface="Arial"/>
                        </a:rPr>
                        <a:t> </a:t>
                      </a:r>
                      <a:r>
                        <a:rPr lang="en-US" sz="1200" baseline="0" dirty="0">
                          <a:solidFill>
                            <a:srgbClr val="680069"/>
                          </a:solidFill>
                          <a:latin typeface="Arial"/>
                          <a:ea typeface="+mn-ea"/>
                          <a:cs typeface="Arial"/>
                        </a:rPr>
                        <a:t>and electronegativity</a:t>
                      </a:r>
                      <a:endParaRPr lang="en-US" sz="1200" dirty="0">
                        <a:solidFill>
                          <a:srgbClr val="680069"/>
                        </a:solidFill>
                        <a:latin typeface="Arial" charset="0"/>
                        <a:ea typeface="ＭＳ Ｐゴシック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look at EN of central atom attached to oxygen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32">
                <a:tc>
                  <a:txBody>
                    <a:bodyPr/>
                    <a:lstStyle/>
                    <a:p>
                      <a:pPr marL="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800080"/>
                          </a:solidFill>
                          <a:latin typeface="Arial" charset="0"/>
                          <a:ea typeface="ＭＳ Ｐゴシック" charset="0"/>
                        </a:rPr>
                        <a:t>Identify Lewis acids and bases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LA</a:t>
                      </a:r>
                      <a:r>
                        <a:rPr lang="en-US" sz="1200" baseline="0" dirty="0">
                          <a:latin typeface="Arial"/>
                          <a:cs typeface="Arial"/>
                        </a:rPr>
                        <a:t> accepts electron pair, LB donates electron pair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22934">
                <a:tc>
                  <a:txBody>
                    <a:bodyPr/>
                    <a:lstStyle/>
                    <a:p>
                      <a:pPr marL="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rgbClr val="680069"/>
                          </a:solidFill>
                          <a:latin typeface="Arial" charset="0"/>
                          <a:ea typeface="ＭＳ Ｐゴシック" charset="0"/>
                        </a:rPr>
                        <a:t>Describe Hydration of transition</a:t>
                      </a:r>
                      <a:r>
                        <a:rPr lang="en-US" sz="1200" baseline="0" dirty="0">
                          <a:solidFill>
                            <a:srgbClr val="680069"/>
                          </a:solidFill>
                          <a:latin typeface="Arial" charset="0"/>
                          <a:ea typeface="ＭＳ Ｐゴシック" charset="0"/>
                        </a:rPr>
                        <a:t> m</a:t>
                      </a:r>
                      <a:r>
                        <a:rPr lang="en-US" sz="1200" dirty="0">
                          <a:solidFill>
                            <a:srgbClr val="680069"/>
                          </a:solidFill>
                          <a:latin typeface="Arial" charset="0"/>
                          <a:ea typeface="ＭＳ Ｐゴシック" charset="0"/>
                        </a:rPr>
                        <a:t>etal </a:t>
                      </a:r>
                      <a:r>
                        <a:rPr lang="en-US" sz="1200" dirty="0" err="1">
                          <a:solidFill>
                            <a:srgbClr val="680069"/>
                          </a:solidFill>
                          <a:latin typeface="Arial" charset="0"/>
                          <a:ea typeface="ＭＳ Ｐゴシック" charset="0"/>
                        </a:rPr>
                        <a:t>cations</a:t>
                      </a:r>
                      <a:r>
                        <a:rPr lang="en-US" sz="1200" dirty="0">
                          <a:solidFill>
                            <a:srgbClr val="680069"/>
                          </a:solidFill>
                          <a:latin typeface="Arial" charset="0"/>
                          <a:ea typeface="ＭＳ Ｐゴシック" charset="0"/>
                        </a:rPr>
                        <a:t>, acidity, and </a:t>
                      </a:r>
                      <a:r>
                        <a:rPr lang="en-US" sz="1200" dirty="0" err="1">
                          <a:solidFill>
                            <a:srgbClr val="680069"/>
                          </a:solidFill>
                          <a:latin typeface="Arial" charset="0"/>
                          <a:ea typeface="ＭＳ Ｐゴシック" charset="0"/>
                        </a:rPr>
                        <a:t>amphoterism</a:t>
                      </a:r>
                      <a:r>
                        <a:rPr lang="en-US" sz="1200" baseline="0" dirty="0">
                          <a:solidFill>
                            <a:srgbClr val="680069"/>
                          </a:solidFill>
                          <a:latin typeface="Arial" charset="0"/>
                          <a:ea typeface="ＭＳ Ｐゴシック" charset="0"/>
                        </a:rPr>
                        <a:t> of metalloids</a:t>
                      </a:r>
                      <a:endParaRPr lang="en-US" sz="1100" dirty="0">
                        <a:solidFill>
                          <a:srgbClr val="680069"/>
                        </a:solidFill>
                        <a:latin typeface="Arial" charset="0"/>
                        <a:ea typeface="ＭＳ Ｐゴシック" charset="0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aseline="0" dirty="0">
                          <a:latin typeface="Arial"/>
                          <a:cs typeface="Arial"/>
                        </a:rPr>
                        <a:t>higher charge and smaller size is better Lewis Acid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438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600200"/>
            <a:ext cx="228600" cy="65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9949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533400"/>
          </a:xfrm>
        </p:spPr>
        <p:txBody>
          <a:bodyPr/>
          <a:lstStyle/>
          <a:p>
            <a:r>
              <a:rPr lang="en-US" dirty="0">
                <a:latin typeface="Arial" charset="0"/>
              </a:rPr>
              <a:t>Stuff to know for Exam 3; Buffers, Titration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04800" y="838200"/>
          <a:ext cx="8382000" cy="5456239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9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Objective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Equation or Rule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When used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"/>
                          <a:cs typeface="Arial"/>
                        </a:rPr>
                        <a:t>Example</a:t>
                      </a:r>
                    </a:p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27">
                <a:tc>
                  <a:txBody>
                    <a:bodyPr/>
                    <a:lstStyle/>
                    <a:p>
                      <a:pPr marL="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Arial"/>
                          <a:ea typeface="ＭＳ Ｐゴシック" charset="0"/>
                          <a:cs typeface="Arial"/>
                        </a:rPr>
                        <a:t>Common ion effect, </a:t>
                      </a:r>
                      <a:r>
                        <a:rPr lang="en-US" sz="1200" dirty="0" err="1">
                          <a:solidFill>
                            <a:schemeClr val="accent2"/>
                          </a:solidFill>
                          <a:latin typeface="Arial"/>
                          <a:ea typeface="ＭＳ Ｐゴシック" charset="0"/>
                          <a:cs typeface="Arial"/>
                        </a:rPr>
                        <a:t>LeChatelier</a:t>
                      </a:r>
                      <a:r>
                        <a:rPr lang="ja-JP" altLang="en-US" sz="1200" dirty="0">
                          <a:solidFill>
                            <a:schemeClr val="accent2"/>
                          </a:solidFill>
                          <a:latin typeface="Arial"/>
                          <a:ea typeface="ＭＳ Ｐゴシック" charset="0"/>
                          <a:cs typeface="Arial"/>
                        </a:rPr>
                        <a:t>’</a:t>
                      </a:r>
                      <a:r>
                        <a:rPr lang="en-US" altLang="ja-JP" sz="1200" dirty="0">
                          <a:solidFill>
                            <a:schemeClr val="accent2"/>
                          </a:solidFill>
                          <a:latin typeface="Arial"/>
                          <a:ea typeface="ＭＳ Ｐゴシック" charset="0"/>
                          <a:cs typeface="Arial"/>
                        </a:rPr>
                        <a:t>s Principle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Addition</a:t>
                      </a:r>
                      <a:r>
                        <a:rPr lang="en-US" sz="1200" baseline="0" dirty="0">
                          <a:latin typeface="Arial"/>
                          <a:cs typeface="Arial"/>
                        </a:rPr>
                        <a:t> of common ion decreases ionization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27">
                <a:tc>
                  <a:txBody>
                    <a:bodyPr/>
                    <a:lstStyle/>
                    <a:p>
                      <a:pPr marL="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Arial"/>
                          <a:ea typeface="ＭＳ Ｐゴシック" charset="0"/>
                          <a:cs typeface="Arial"/>
                        </a:rPr>
                        <a:t>Definition of buffer, identify components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200" baseline="0" dirty="0">
                          <a:latin typeface="Arial"/>
                          <a:cs typeface="Arial"/>
                        </a:rPr>
                        <a:t>Both conjugate acid and conjugate base present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17">
                <a:tc>
                  <a:txBody>
                    <a:bodyPr/>
                    <a:lstStyle/>
                    <a:p>
                      <a:pPr marL="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Arial"/>
                          <a:ea typeface="ＭＳ Ｐゴシック" charset="0"/>
                          <a:cs typeface="Arial"/>
                        </a:rPr>
                        <a:t>Define buffer capacity and range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capacity is amount of added A or B buffer can neutralize, range is useful</a:t>
                      </a:r>
                      <a:r>
                        <a:rPr lang="en-US" sz="1200" baseline="0" dirty="0">
                          <a:latin typeface="Arial"/>
                          <a:cs typeface="Arial"/>
                        </a:rPr>
                        <a:t> pH range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27">
                <a:tc>
                  <a:txBody>
                    <a:bodyPr/>
                    <a:lstStyle/>
                    <a:p>
                      <a:pPr marL="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Arial"/>
                          <a:ea typeface="ＭＳ Ｐゴシック" charset="0"/>
                          <a:cs typeface="Arial"/>
                        </a:rPr>
                        <a:t>Calculate pH of a buffer; H-H equation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pH=</a:t>
                      </a:r>
                      <a:r>
                        <a:rPr lang="en-US" sz="1200" dirty="0" err="1">
                          <a:latin typeface="Arial"/>
                          <a:cs typeface="Arial"/>
                        </a:rPr>
                        <a:t>pK</a:t>
                      </a:r>
                      <a:r>
                        <a:rPr lang="en-US" sz="1200" baseline="-25000" dirty="0" err="1">
                          <a:latin typeface="Arial"/>
                          <a:cs typeface="Arial"/>
                        </a:rPr>
                        <a:t>a</a:t>
                      </a:r>
                      <a:r>
                        <a:rPr lang="en-US" sz="1200" dirty="0" err="1">
                          <a:latin typeface="Arial"/>
                          <a:cs typeface="Arial"/>
                        </a:rPr>
                        <a:t>+log</a:t>
                      </a:r>
                      <a:r>
                        <a:rPr lang="en-US" sz="1200" dirty="0">
                          <a:latin typeface="Arial"/>
                          <a:cs typeface="Arial"/>
                        </a:rPr>
                        <a:t>([CB]/[CA])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5899">
                <a:tc>
                  <a:txBody>
                    <a:bodyPr/>
                    <a:lstStyle/>
                    <a:p>
                      <a:pPr marL="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Arial"/>
                          <a:ea typeface="ＭＳ Ｐゴシック" charset="0"/>
                          <a:cs typeface="Arial"/>
                        </a:rPr>
                        <a:t>Interpret graph of titration curve; know if acid or base titration, </a:t>
                      </a:r>
                      <a:r>
                        <a:rPr lang="en-US" sz="1200" dirty="0" err="1">
                          <a:solidFill>
                            <a:schemeClr val="accent2"/>
                          </a:solidFill>
                          <a:latin typeface="Arial"/>
                          <a:ea typeface="ＭＳ Ｐゴシック" charset="0"/>
                          <a:cs typeface="Arial"/>
                        </a:rPr>
                        <a:t>polyprotic</a:t>
                      </a:r>
                      <a:r>
                        <a:rPr lang="en-US" sz="1200" dirty="0">
                          <a:solidFill>
                            <a:schemeClr val="accent2"/>
                          </a:solidFill>
                          <a:latin typeface="Arial"/>
                          <a:ea typeface="ＭＳ Ｐゴシック" charset="0"/>
                          <a:cs typeface="Arial"/>
                        </a:rPr>
                        <a:t> titration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initial pH tells strength of A</a:t>
                      </a:r>
                      <a:r>
                        <a:rPr lang="en-US" sz="1200" baseline="0" dirty="0">
                          <a:latin typeface="Arial"/>
                          <a:cs typeface="Arial"/>
                        </a:rPr>
                        <a:t> or B</a:t>
                      </a:r>
                      <a:r>
                        <a:rPr lang="en-US" sz="1200" dirty="0">
                          <a:latin typeface="Arial"/>
                          <a:cs typeface="Arial"/>
                        </a:rPr>
                        <a:t>, </a:t>
                      </a:r>
                      <a:r>
                        <a:rPr lang="en-US" sz="1200" dirty="0" err="1">
                          <a:latin typeface="Arial"/>
                          <a:cs typeface="Arial"/>
                        </a:rPr>
                        <a:t>equiv</a:t>
                      </a:r>
                      <a:r>
                        <a:rPr lang="en-US" sz="120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200" dirty="0" err="1">
                          <a:latin typeface="Arial"/>
                          <a:cs typeface="Arial"/>
                        </a:rPr>
                        <a:t>pt</a:t>
                      </a:r>
                      <a:r>
                        <a:rPr lang="en-US" sz="1200" dirty="0">
                          <a:latin typeface="Arial"/>
                          <a:cs typeface="Arial"/>
                        </a:rPr>
                        <a:t> is halfway through pH change,</a:t>
                      </a:r>
                      <a:r>
                        <a:rPr lang="en-US" sz="1200" baseline="0" dirty="0">
                          <a:latin typeface="Arial"/>
                          <a:cs typeface="Arial"/>
                        </a:rPr>
                        <a:t> at half </a:t>
                      </a:r>
                      <a:r>
                        <a:rPr lang="en-US" sz="1200" baseline="0" dirty="0" err="1">
                          <a:latin typeface="Arial"/>
                          <a:cs typeface="Arial"/>
                        </a:rPr>
                        <a:t>equiv</a:t>
                      </a:r>
                      <a:r>
                        <a:rPr lang="en-US" sz="1200" baseline="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200" baseline="0" dirty="0" err="1">
                          <a:latin typeface="Arial"/>
                          <a:cs typeface="Arial"/>
                        </a:rPr>
                        <a:t>pt</a:t>
                      </a:r>
                      <a:r>
                        <a:rPr lang="en-US" sz="1200" baseline="0" dirty="0">
                          <a:latin typeface="Arial"/>
                          <a:cs typeface="Arial"/>
                        </a:rPr>
                        <a:t> pH=</a:t>
                      </a:r>
                      <a:r>
                        <a:rPr lang="en-US" sz="1200" baseline="0" dirty="0" err="1">
                          <a:latin typeface="Arial"/>
                          <a:cs typeface="Arial"/>
                        </a:rPr>
                        <a:t>pK</a:t>
                      </a:r>
                      <a:r>
                        <a:rPr lang="en-US" sz="1200" baseline="-25000" dirty="0" err="1">
                          <a:latin typeface="Arial"/>
                          <a:cs typeface="Arial"/>
                        </a:rPr>
                        <a:t>a</a:t>
                      </a:r>
                      <a:r>
                        <a:rPr lang="en-US" sz="1200" baseline="0" dirty="0">
                          <a:latin typeface="Arial"/>
                          <a:cs typeface="Arial"/>
                        </a:rPr>
                        <a:t>, </a:t>
                      </a:r>
                      <a:r>
                        <a:rPr lang="en-US" sz="1200" baseline="0" dirty="0" err="1">
                          <a:latin typeface="Arial"/>
                          <a:cs typeface="Arial"/>
                        </a:rPr>
                        <a:t>polyprotic</a:t>
                      </a:r>
                      <a:r>
                        <a:rPr lang="en-US" sz="1200" baseline="0" dirty="0">
                          <a:latin typeface="Arial"/>
                          <a:cs typeface="Arial"/>
                        </a:rPr>
                        <a:t> multiple pH changes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117">
                <a:tc>
                  <a:txBody>
                    <a:bodyPr/>
                    <a:lstStyle/>
                    <a:p>
                      <a:pPr marL="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Arial"/>
                          <a:ea typeface="ＭＳ Ｐゴシック" charset="0"/>
                          <a:cs typeface="Arial"/>
                        </a:rPr>
                        <a:t>Identify components and balanced reaction at any point during a titration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weak A or B has buffer before </a:t>
                      </a:r>
                      <a:r>
                        <a:rPr lang="en-US" sz="1200" dirty="0" err="1">
                          <a:latin typeface="Arial"/>
                          <a:cs typeface="Arial"/>
                        </a:rPr>
                        <a:t>equiv</a:t>
                      </a:r>
                      <a:r>
                        <a:rPr lang="en-US" sz="120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200" dirty="0" err="1">
                          <a:latin typeface="Arial"/>
                          <a:cs typeface="Arial"/>
                        </a:rPr>
                        <a:t>pt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3008">
                <a:tc>
                  <a:txBody>
                    <a:bodyPr/>
                    <a:lstStyle/>
                    <a:p>
                      <a:pPr marL="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Arial"/>
                          <a:ea typeface="ＭＳ Ｐゴシック" charset="0"/>
                          <a:cs typeface="Arial"/>
                        </a:rPr>
                        <a:t>Find pH of acid/base mixture at any point during a titration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make </a:t>
                      </a:r>
                      <a:r>
                        <a:rPr lang="en-US" sz="1200" dirty="0" err="1">
                          <a:latin typeface="Arial"/>
                          <a:cs typeface="Arial"/>
                        </a:rPr>
                        <a:t>icf</a:t>
                      </a:r>
                      <a:r>
                        <a:rPr lang="en-US" sz="1200" baseline="0" dirty="0">
                          <a:latin typeface="Arial"/>
                          <a:cs typeface="Arial"/>
                        </a:rPr>
                        <a:t> table of moles for neutralization, calculate moles/concentration of species present, find pH 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27">
                <a:tc>
                  <a:txBody>
                    <a:bodyPr/>
                    <a:lstStyle/>
                    <a:p>
                      <a:pPr marL="0" marR="0" lvl="1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Arial"/>
                          <a:ea typeface="ＭＳ Ｐゴシック" charset="0"/>
                          <a:cs typeface="Arial"/>
                        </a:rPr>
                        <a:t>Choose appropriate indicator</a:t>
                      </a: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/>
                          <a:cs typeface="Arial"/>
                        </a:rPr>
                        <a:t>must change color</a:t>
                      </a:r>
                      <a:r>
                        <a:rPr lang="en-US" sz="1200" baseline="0" dirty="0">
                          <a:latin typeface="Arial"/>
                          <a:cs typeface="Arial"/>
                        </a:rPr>
                        <a:t> within range of pH change</a:t>
                      </a:r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Arial"/>
                        <a:cs typeface="Arial"/>
                      </a:endParaRPr>
                    </a:p>
                  </a:txBody>
                  <a:tcPr marT="45723" marB="45723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Default Design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 Disk:Applications:Microsoft Office:Microsoft PowerPoint 4:</Template>
  <TotalTime>22597</TotalTime>
  <Pages>12</Pages>
  <Words>637</Words>
  <Application>Microsoft Macintosh PowerPoint</Application>
  <PresentationFormat>On-screen Show (4:3)</PresentationFormat>
  <Paragraphs>78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Times New Roman</vt:lpstr>
      <vt:lpstr>Default Design</vt:lpstr>
      <vt:lpstr>Stuff to Know for Exam 3; Acids and Bases</vt:lpstr>
      <vt:lpstr>Stuff to know for Exam 3; Acids and Bases</vt:lpstr>
      <vt:lpstr>Stuff to know for Exam 3; Buffers, Titration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Mary J. Bojan</dc:creator>
  <cp:keywords/>
  <dc:description/>
  <cp:lastModifiedBy>Stepan, Lori Ruth</cp:lastModifiedBy>
  <cp:revision>268</cp:revision>
  <cp:lastPrinted>2009-02-08T20:44:54Z</cp:lastPrinted>
  <dcterms:created xsi:type="dcterms:W3CDTF">2010-09-05T16:42:29Z</dcterms:created>
  <dcterms:modified xsi:type="dcterms:W3CDTF">2019-10-21T18:06:49Z</dcterms:modified>
</cp:coreProperties>
</file>